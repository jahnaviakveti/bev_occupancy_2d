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5143500" type="screen16x9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89600"/>
            <a:ext cx="9143640" cy="10440"/>
          </a:xfrm>
          <a:prstGeom prst="rect">
            <a:avLst/>
          </a:prstGeom>
          <a:solidFill>
            <a:srgbClr val="EB6B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N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" name="Picture 4"/>
          <p:cNvPicPr/>
          <p:nvPr userDrawn="1"/>
        </p:nvPicPr>
        <p:blipFill>
          <a:blip r:embed="rId3"/>
          <a:stretch/>
        </p:blipFill>
        <p:spPr>
          <a:xfrm>
            <a:off x="4069440" y="127980"/>
            <a:ext cx="1432080" cy="21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Rectangle 7"/>
          <p:cNvSpPr/>
          <p:nvPr/>
        </p:nvSpPr>
        <p:spPr>
          <a:xfrm>
            <a:off x="0" y="4896720"/>
            <a:ext cx="9143640" cy="10440"/>
          </a:xfrm>
          <a:prstGeom prst="rect">
            <a:avLst/>
          </a:prstGeom>
          <a:solidFill>
            <a:srgbClr val="EB6B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N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0" y="489600"/>
            <a:ext cx="9143640" cy="10440"/>
          </a:xfrm>
          <a:prstGeom prst="rect">
            <a:avLst/>
          </a:prstGeom>
          <a:solidFill>
            <a:srgbClr val="EB6B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N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" name="Rectangle 11"/>
          <p:cNvSpPr/>
          <p:nvPr/>
        </p:nvSpPr>
        <p:spPr>
          <a:xfrm>
            <a:off x="0" y="4896720"/>
            <a:ext cx="9143640" cy="10440"/>
          </a:xfrm>
          <a:prstGeom prst="rect">
            <a:avLst/>
          </a:prstGeom>
          <a:solidFill>
            <a:srgbClr val="EB6B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N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1B123E1-0482-75E4-EB80-E99E87BA74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379" y="-5667"/>
            <a:ext cx="760320" cy="5068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59B9F16-E5D5-345D-C373-4913425D8A7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160" y="97020"/>
            <a:ext cx="1431227" cy="2746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C70097C-2BCE-0ED9-8B43-13FCB576528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75" y="75322"/>
            <a:ext cx="2208240" cy="2932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B10D9A-79E4-3006-01F8-CB64856EE3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475" y="65859"/>
            <a:ext cx="581077" cy="340962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 txBox="1"/>
          <p:nvPr/>
        </p:nvSpPr>
        <p:spPr>
          <a:xfrm>
            <a:off x="1600200" y="660960"/>
            <a:ext cx="6629400" cy="1167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Calibri"/>
              </a:rPr>
              <a:t>BEV-Occ: Bird's-Eye-View</a:t>
            </a:r>
            <a:r>
              <a:rPr lang="en-US" sz="40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 xml:space="preserve"> 2D Occupancy Grid</a:t>
            </a:r>
          </a:p>
        </p:txBody>
      </p:sp>
      <p:sp>
        <p:nvSpPr>
          <p:cNvPr id="20" name="Subtitle 2"/>
          <p:cNvSpPr txBox="1"/>
          <p:nvPr/>
        </p:nvSpPr>
        <p:spPr>
          <a:xfrm>
            <a:off x="1600200" y="236268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dirty="0">
                <a:solidFill>
                  <a:schemeClr val="dk1">
                    <a:tint val="75000"/>
                  </a:schemeClr>
                </a:solidFill>
                <a:latin typeface="Calibri"/>
              </a:rPr>
              <a:t>Team rootZero | Camera-to-BEV via Lift-Splat-Shoot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"/>
          <p:cNvSpPr txBox="1"/>
          <p:nvPr/>
        </p:nvSpPr>
        <p:spPr>
          <a:xfrm>
            <a:off x="1600200" y="660960"/>
            <a:ext cx="6629400" cy="710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Proposal &amp; Team Details</a:t>
            </a:r>
          </a:p>
        </p:txBody>
      </p:sp>
      <p:sp>
        <p:nvSpPr>
          <p:cNvPr id="22" name="Content Placeholder 2"/>
          <p:cNvSpPr txBox="1"/>
          <p:nvPr/>
        </p:nvSpPr>
        <p:spPr>
          <a:xfrm>
            <a:off x="457200" y="1646280"/>
            <a:ext cx="8229240" cy="292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Proposal Title: BEV-Occ: Bird's-Eye-View 2D Occupancy from Multi-Camera Images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Team Name: rootZero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Team Lead: [YOUR NAME], [EMAIL], [INSTITUTION]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 xml:space="preserve">Challenge Track: </a:t>
            </a:r>
            <a:r>
              <a:rPr lang="en-US" sz="2800" dirty="0">
                <a:solidFill>
                  <a:srgbClr val="FFFFFF"/>
                </a:solidFill>
                <a:latin typeface="Calibri"/>
              </a:rPr>
              <a:t>AI and Computer Vision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4"/>
          <p:cNvSpPr txBox="1"/>
          <p:nvPr/>
        </p:nvSpPr>
        <p:spPr>
          <a:xfrm>
            <a:off x="0" y="685800"/>
            <a:ext cx="9144000" cy="710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Team Members, Affiliation &amp; Expertise</a:t>
            </a:r>
          </a:p>
        </p:txBody>
      </p:sp>
      <p:sp>
        <p:nvSpPr>
          <p:cNvPr id="24" name="Content Placeholder 3"/>
          <p:cNvSpPr txBox="1"/>
          <p:nvPr/>
        </p:nvSpPr>
        <p:spPr>
          <a:xfrm>
            <a:off x="457200" y="1646280"/>
            <a:ext cx="8229240" cy="292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Member 1 (Team Lead): [NAME] - [AFFILIATION] - Deep Learning / BEV Perception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6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Member 2: [NAME] - [AFFILIATION] - Computer Vision / 3D Perception</a:t>
            </a:r>
            <a:endParaRPr lang="en-US" sz="26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6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Member 3: [NAME] - [AFFILIATION] - ML Engineering / Data Pipelines</a:t>
            </a:r>
            <a:endParaRPr lang="en-US" sz="26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6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Member 4: [NAME] - [AFFILIATION] - Autonomous Driving / Sensor Fusion</a:t>
            </a:r>
            <a:endParaRPr lang="en-US" sz="26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3"/>
          <p:cNvSpPr txBox="1"/>
          <p:nvPr/>
        </p:nvSpPr>
        <p:spPr>
          <a:xfrm>
            <a:off x="914400" y="660960"/>
            <a:ext cx="7315200" cy="939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Understanding of the Problem Statement</a:t>
            </a:r>
          </a:p>
        </p:txBody>
      </p:sp>
      <p:sp>
        <p:nvSpPr>
          <p:cNvPr id="26" name="Content Placeholder 1"/>
          <p:cNvSpPr txBox="1"/>
          <p:nvPr/>
        </p:nvSpPr>
        <p:spPr>
          <a:xfrm>
            <a:off x="457200" y="2057400"/>
            <a:ext cx="8229240" cy="274921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US" sz="2400" dirty="0"/>
              <a:t>L4 autonomous vehicles rely on front-facing cameras, but standard perspective views suffer from distortion that makes spatial planning impossible. The challenge: transform 2D camera images into a Bird's-Eye-View (BEV) occupancy grid showing where obstacles exist on a 2D ground plane.</a:t>
            </a:r>
          </a:p>
          <a:p>
            <a:r>
              <a:rPr lang="en-US" sz="2400" b="1" dirty="0"/>
              <a:t>Key Objective:</a:t>
            </a:r>
            <a:r>
              <a:rPr lang="en-US" sz="2400" dirty="0"/>
              <a:t xml:space="preserve"> Image-to-BEV transformation producing a 200x200 occupancy grid (0.5m resolution, 100m x 100m area) where each cell indicates obstacle probability.</a:t>
            </a:r>
          </a:p>
          <a:p>
            <a:r>
              <a:rPr lang="en-US" sz="2400" b="1" dirty="0"/>
              <a:t>Task Type:</a:t>
            </a:r>
            <a:r>
              <a:rPr lang="en-US" sz="2400" dirty="0"/>
              <a:t xml:space="preserve"> Geometric view transformation + binary semantic segmentation (occupied vs. free space) from multi-camera inputs.</a:t>
            </a:r>
          </a:p>
          <a:p>
            <a:r>
              <a:rPr lang="en-US" sz="2400" b="1" dirty="0"/>
              <a:t>Impact:</a:t>
            </a:r>
            <a:r>
              <a:rPr lang="en-US" sz="2400" dirty="0"/>
              <a:t xml:space="preserve"> Enables camera-only autonomous driving without expensive LiDAR, critical for scalable L4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6"/>
          <p:cNvSpPr txBox="1"/>
          <p:nvPr/>
        </p:nvSpPr>
        <p:spPr>
          <a:xfrm>
            <a:off x="914220" y="739942"/>
            <a:ext cx="7315200" cy="710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Proposed Solution – High Level Architecture</a:t>
            </a:r>
          </a:p>
        </p:txBody>
      </p:sp>
      <p:sp>
        <p:nvSpPr>
          <p:cNvPr id="28" name="Content Placeholder 5"/>
          <p:cNvSpPr txBox="1"/>
          <p:nvPr/>
        </p:nvSpPr>
        <p:spPr>
          <a:xfrm>
            <a:off x="457200" y="1973179"/>
            <a:ext cx="8229240" cy="259882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IN" b="1" dirty="0"/>
              <a:t>BEV-Occ Pipeline (Lift-Splat-Shoot based):</a:t>
            </a:r>
          </a:p>
          <a:p>
            <a:r>
              <a:rPr lang="en-IN" dirty="0"/>
              <a:t>6 Camera Images (256x704)</a:t>
            </a:r>
          </a:p>
          <a:p>
            <a:r>
              <a:rPr lang="en-IN" dirty="0"/>
              <a:t xml:space="preserve">  → EfficientNet-B4 Backbone + FPN Neck (160ch features)</a:t>
            </a:r>
          </a:p>
          <a:p>
            <a:r>
              <a:rPr lang="en-IN" dirty="0"/>
              <a:t xml:space="preserve">  → DepthNet: Predict depth distribution (112 bins) + context</a:t>
            </a:r>
          </a:p>
          <a:p>
            <a:r>
              <a:rPr lang="en-IN" dirty="0"/>
              <a:t xml:space="preserve">  → Lift-Splat: Outer product depth x context → Voxel pooling → BEV</a:t>
            </a:r>
          </a:p>
          <a:p>
            <a:r>
              <a:rPr lang="en-IN" dirty="0"/>
              <a:t xml:space="preserve">  → Temporal Fusion: ConvGRU + ego-motion warping</a:t>
            </a:r>
          </a:p>
          <a:p>
            <a:r>
              <a:rPr lang="en-IN" dirty="0"/>
              <a:t xml:space="preserve">  → Multi-Scale BEV Encoder (ResNet blocks, 3 scales)</a:t>
            </a:r>
          </a:p>
          <a:p>
            <a:r>
              <a:rPr lang="en-IN" dirty="0"/>
              <a:t xml:space="preserve">  → Occupancy Head → 200x200 BEV grid (sigmoid probability)</a:t>
            </a:r>
          </a:p>
          <a:p>
            <a:r>
              <a:rPr lang="en-IN" sz="1400" dirty="0"/>
              <a:t>Total: 24.2M parameters | Trained with distance-weighted BCE + deep supervision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5"/>
          <p:cNvSpPr txBox="1"/>
          <p:nvPr/>
        </p:nvSpPr>
        <p:spPr>
          <a:xfrm>
            <a:off x="914400" y="660960"/>
            <a:ext cx="7315200" cy="710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Methodology</a:t>
            </a:r>
          </a:p>
        </p:txBody>
      </p:sp>
      <p:sp>
        <p:nvSpPr>
          <p:cNvPr id="30" name="Content Placeholder 4"/>
          <p:cNvSpPr txBox="1"/>
          <p:nvPr/>
        </p:nvSpPr>
        <p:spPr>
          <a:xfrm>
            <a:off x="457560" y="1654342"/>
            <a:ext cx="8229240" cy="310017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US" sz="2000" b="1" dirty="0"/>
              <a:t>1. Data Preparation:</a:t>
            </a:r>
            <a:r>
              <a:rPr lang="en-US" sz="2000" dirty="0"/>
              <a:t xml:space="preserve"> nuScenes dataset with 6 surround cameras. Aggregate 10 LiDAR sweeps per sample to generate dense BEV ground truth occupancy grids.</a:t>
            </a:r>
          </a:p>
          <a:p>
            <a:r>
              <a:rPr lang="en-US" sz="2000" b="1" dirty="0"/>
              <a:t>2. Preprocessing:</a:t>
            </a:r>
            <a:r>
              <a:rPr lang="en-US" sz="2000" dirty="0"/>
              <a:t xml:space="preserve"> Resize images to 256x704, ImageNet normalization, adjust camera intrinsics accordingly. Extract calibration matrices for each camera.</a:t>
            </a:r>
          </a:p>
          <a:p>
            <a:r>
              <a:rPr lang="en-US" sz="2000" b="1" dirty="0"/>
              <a:t>3. Training:</a:t>
            </a:r>
            <a:r>
              <a:rPr lang="en-US" sz="2000" dirty="0"/>
              <a:t xml:space="preserve"> AdamW optimizer (lr=2e-4, backbone 10x lower), cosine schedule with 2-epoch warmup, mixed precision (FP16), gradient accumulation (effective batch=8).</a:t>
            </a:r>
          </a:p>
          <a:p>
            <a:r>
              <a:rPr lang="en-US" sz="2000" b="1" dirty="0"/>
              <a:t>4. Loss Design:</a:t>
            </a:r>
            <a:r>
              <a:rPr lang="en-US" sz="2000" dirty="0"/>
              <a:t xml:space="preserve"> Distance-weighted BCE (1/d weighting, near-field errors penalized more) + multi-scale deep supervision at 3 BEV encoder scales.</a:t>
            </a:r>
          </a:p>
          <a:p>
            <a:r>
              <a:rPr lang="en-US" sz="2000" b="1" dirty="0"/>
              <a:t>5. Validation:</a:t>
            </a:r>
            <a:r>
              <a:rPr lang="en-US" sz="2000" dirty="0"/>
              <a:t xml:space="preserve"> Evaluate on held-out val split using Occupancy IoU, Distance-Weighted Error, and per-range IoU breakdown (0-50m in 10m bins).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7"/>
          <p:cNvSpPr txBox="1"/>
          <p:nvPr/>
        </p:nvSpPr>
        <p:spPr>
          <a:xfrm>
            <a:off x="914400" y="660960"/>
            <a:ext cx="7315200" cy="710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Techniques &amp; Algorithms</a:t>
            </a:r>
          </a:p>
        </p:txBody>
      </p:sp>
      <p:sp>
        <p:nvSpPr>
          <p:cNvPr id="32" name="Content Placeholder 6"/>
          <p:cNvSpPr txBox="1"/>
          <p:nvPr/>
        </p:nvSpPr>
        <p:spPr>
          <a:xfrm>
            <a:off x="457560" y="1828800"/>
            <a:ext cx="8229240" cy="292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IN" sz="2000" b="1" dirty="0"/>
              <a:t>EfficientNet-B4 + FPN:</a:t>
            </a:r>
            <a:r>
              <a:rPr lang="en-IN" sz="2000" dirty="0"/>
              <a:t xml:space="preserve"> ImageNet-pretrained backbone with Feature Pyramid Network neck. Multi-scale features at stride 16/32 fused to stride-16 output (160 channels).</a:t>
            </a:r>
          </a:p>
          <a:p>
            <a:r>
              <a:rPr lang="en-IN" sz="2000" b="1" dirty="0"/>
              <a:t>Lift-Splat-Shoot (LSS):</a:t>
            </a:r>
            <a:r>
              <a:rPr lang="en-IN" sz="2000" dirty="0"/>
              <a:t xml:space="preserve"> Predict per-pixel depth distribution (112 bins, 1-57m), outer-product with context features, voxel-pool onto BEV plane via scatter-add.</a:t>
            </a:r>
          </a:p>
          <a:p>
            <a:r>
              <a:rPr lang="en-IN" sz="2000" b="1" dirty="0"/>
              <a:t>Temporal Fusion (ConvGRU):</a:t>
            </a:r>
            <a:r>
              <a:rPr lang="en-IN" sz="2000" dirty="0"/>
              <a:t xml:space="preserve"> Warp previous BEV features using ego-motion, fuse via Convolutional GRU for temporal consistency and occlusion handling.</a:t>
            </a:r>
          </a:p>
          <a:p>
            <a:r>
              <a:rPr lang="en-IN" sz="2000" b="1" dirty="0"/>
              <a:t>Distance-Weighted Loss (Novel):</a:t>
            </a:r>
            <a:r>
              <a:rPr lang="en-IN" sz="2000" dirty="0"/>
              <a:t xml:space="preserve"> Custom BCE with 1/d weighting directly optimizing the competition metric. Near-ego errors receive 70x more gradient signal.</a:t>
            </a:r>
          </a:p>
          <a:p>
            <a:r>
              <a:rPr lang="en-IN" sz="2000" b="1" dirty="0"/>
              <a:t>Transfer Learning:</a:t>
            </a:r>
            <a:r>
              <a:rPr lang="en-IN" sz="2000" dirty="0"/>
              <a:t xml:space="preserve"> Backbone pretrained on ImageNet with 10x lower learning rate. All other modules trained from scratch.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9"/>
          <p:cNvSpPr txBox="1"/>
          <p:nvPr/>
        </p:nvSpPr>
        <p:spPr>
          <a:xfrm>
            <a:off x="228600" y="660960"/>
            <a:ext cx="8686800" cy="710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z="4400" dirty="0"/>
              <a:t>Dataset &amp; Training Strategy</a:t>
            </a:r>
            <a:endParaRPr lang="en-US" sz="4400" b="0" u="none" strike="noStrike" dirty="0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34" name="Content Placeholder 8"/>
          <p:cNvSpPr txBox="1"/>
          <p:nvPr/>
        </p:nvSpPr>
        <p:spPr>
          <a:xfrm>
            <a:off x="457380" y="1714500"/>
            <a:ext cx="8229240" cy="292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US" sz="2200" b="1" dirty="0"/>
              <a:t>Dataset:</a:t>
            </a:r>
            <a:r>
              <a:rPr lang="en-US" sz="2200" dirty="0"/>
              <a:t xml:space="preserve"> nuScenes (public). 6 surround cameras + LiDAR. Mini: 242 train / 162 val. Full trainval: 28,130 / 6,019 samples.</a:t>
            </a:r>
          </a:p>
          <a:p>
            <a:r>
              <a:rPr lang="en-US" sz="2200" b="1" dirty="0"/>
              <a:t>Preprocessing:</a:t>
            </a:r>
            <a:r>
              <a:rPr lang="en-US" sz="2200" dirty="0"/>
              <a:t xml:space="preserve"> Resize to 256x704, ImageNet normalize. 10-sweep LiDAR aggregation for dense GT (height filter -3m to 3m).</a:t>
            </a:r>
          </a:p>
          <a:p>
            <a:r>
              <a:rPr lang="en-US" sz="2200" b="1" dirty="0"/>
              <a:t>Augmentation:</a:t>
            </a:r>
            <a:r>
              <a:rPr lang="en-US" sz="2200" dirty="0"/>
              <a:t xml:space="preserve"> Color jitter, random horizontal flip with intrinsic/extrinsic adjustment. GridMask on BEV features.</a:t>
            </a:r>
          </a:p>
          <a:p>
            <a:r>
              <a:rPr lang="en-US" sz="2200" b="1" dirty="0"/>
              <a:t>Training:</a:t>
            </a:r>
            <a:r>
              <a:rPr lang="en-US" sz="2200" dirty="0"/>
              <a:t xml:space="preserve"> 20 epochs, AdamW (lr=2e-4), cosine schedule, FP16, grad accum x4, batch 2. pos_weight=2.5 for class imbalance.</a:t>
            </a:r>
          </a:p>
          <a:p>
            <a:r>
              <a:rPr lang="en-US" sz="2200" b="1" dirty="0"/>
              <a:t>Hardware:</a:t>
            </a:r>
            <a:r>
              <a:rPr lang="en-US" sz="2200" dirty="0"/>
              <a:t xml:space="preserve"> NVIDIA Tesla T4 (16GB VRAM) via Google Colab. ~95s/epoch on mini split.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8"/>
          <p:cNvSpPr txBox="1"/>
          <p:nvPr/>
        </p:nvSpPr>
        <p:spPr>
          <a:xfrm>
            <a:off x="228600" y="660960"/>
            <a:ext cx="8686800" cy="710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Real-Time Processing &amp; Performance</a:t>
            </a:r>
          </a:p>
        </p:txBody>
      </p:sp>
      <p:sp>
        <p:nvSpPr>
          <p:cNvPr id="36" name="Content Placeholder 7"/>
          <p:cNvSpPr txBox="1"/>
          <p:nvPr/>
        </p:nvSpPr>
        <p:spPr>
          <a:xfrm>
            <a:off x="457560" y="1828800"/>
            <a:ext cx="8229240" cy="292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US" sz="1800" b="1" dirty="0"/>
              <a:t>Model Size:</a:t>
            </a:r>
            <a:r>
              <a:rPr lang="en-US" sz="1800" dirty="0"/>
              <a:t xml:space="preserve"> 24.2M parameters. Compact enough for edge GPUs (NVIDIA Jetson Orin).</a:t>
            </a:r>
          </a:p>
          <a:p>
            <a:r>
              <a:rPr lang="en-US" sz="1800" b="1" dirty="0"/>
              <a:t>Inference Speed:</a:t>
            </a:r>
            <a:r>
              <a:rPr lang="en-US" sz="1800" dirty="0"/>
              <a:t xml:space="preserve"> ~95ms per frame on T4 with FP16. Achievable 10+ FPS for real-time planning.</a:t>
            </a:r>
          </a:p>
          <a:p>
            <a:r>
              <a:rPr lang="en-US" sz="1800" b="1" dirty="0"/>
              <a:t>Latency:</a:t>
            </a:r>
            <a:r>
              <a:rPr lang="en-US" sz="1800" dirty="0"/>
              <a:t xml:space="preserve"> Single forward pass, no iterative refinement. AMP (FP16) reduces memory and compute by ~40%.</a:t>
            </a:r>
          </a:p>
          <a:p>
            <a:r>
              <a:rPr lang="en-US" sz="1800" b="1" dirty="0"/>
              <a:t>Robustness - Occlusions:</a:t>
            </a:r>
            <a:r>
              <a:rPr lang="en-US" sz="1800" dirty="0"/>
              <a:t xml:space="preserve"> Temporal fusion propagates info from previous frames, improving prediction in occluded regions.</a:t>
            </a:r>
          </a:p>
          <a:p>
            <a:r>
              <a:rPr lang="en-US" sz="1800" b="1" dirty="0"/>
              <a:t>Robustness - Lighting:</a:t>
            </a:r>
            <a:r>
              <a:rPr lang="en-US" sz="1800" dirty="0"/>
              <a:t xml:space="preserve"> ImageNet pretraining + color jitter provides invariance to lighting changes.</a:t>
            </a:r>
          </a:p>
          <a:p>
            <a:r>
              <a:rPr lang="en-US" sz="1800" b="1" dirty="0"/>
              <a:t>Robustness - Noise:</a:t>
            </a:r>
            <a:r>
              <a:rPr lang="en-US" sz="1800" dirty="0"/>
              <a:t xml:space="preserve"> Multi-camera fusion (6 views) provides redundancy. Depth softmax acts as implicit noise filter.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1"/>
          <p:cNvSpPr txBox="1"/>
          <p:nvPr/>
        </p:nvSpPr>
        <p:spPr>
          <a:xfrm>
            <a:off x="228600" y="685800"/>
            <a:ext cx="8686800" cy="710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Evaluation Metrics</a:t>
            </a:r>
          </a:p>
        </p:txBody>
      </p:sp>
      <p:sp>
        <p:nvSpPr>
          <p:cNvPr id="40" name="Content Placeholder 10"/>
          <p:cNvSpPr txBox="1"/>
          <p:nvPr/>
        </p:nvSpPr>
        <p:spPr>
          <a:xfrm>
            <a:off x="457560" y="1828800"/>
            <a:ext cx="8229240" cy="292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US" sz="1800" b="1" dirty="0"/>
              <a:t>Results on nuScenes Mini Val (Best Epoch 5):</a:t>
            </a:r>
          </a:p>
          <a:p>
            <a:r>
              <a:rPr lang="en-US" sz="1800" dirty="0"/>
              <a:t>Occupancy IoU: 0.4018  |  Distance-Weighted Error: 0.1878</a:t>
            </a:r>
          </a:p>
          <a:p>
            <a:r>
              <a:rPr lang="en-US" sz="1800" dirty="0"/>
              <a:t>Precision: 0.4992  |  Recall: 0.6005</a:t>
            </a:r>
          </a:p>
          <a:p>
            <a:r>
              <a:rPr lang="en-US" sz="1800" b="1" dirty="0"/>
              <a:t>Per-Distance IoU Breakdown:</a:t>
            </a:r>
          </a:p>
          <a:p>
            <a:r>
              <a:rPr lang="en-US" sz="1800" dirty="0"/>
              <a:t>0-10m: 0.8403  |  10-20m: 0.4973  |  20-30m: 0.2021</a:t>
            </a:r>
          </a:p>
          <a:p>
            <a:r>
              <a:rPr lang="en-US" sz="1800" dirty="0"/>
              <a:t>30-40m: 0.0587  |  40-50m: 0.0093</a:t>
            </a:r>
          </a:p>
          <a:p>
            <a:r>
              <a:rPr lang="en-US" sz="1800" b="1" dirty="0"/>
              <a:t>Key Insight:</a:t>
            </a:r>
            <a:r>
              <a:rPr lang="en-US" sz="1800" dirty="0"/>
              <a:t xml:space="preserve"> 84% IoU in the safety-critical 0-10m zone validates our distance-weighted loss design.</a:t>
            </a:r>
          </a:p>
          <a:p>
            <a:r>
              <a:rPr lang="en-US" sz="1400" dirty="0"/>
              <a:t>Note: Trained on mini split (242 samples). Full trainval expected to yield 0.45-0.55 overall IoU.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2"/>
          <p:cNvSpPr txBox="1"/>
          <p:nvPr/>
        </p:nvSpPr>
        <p:spPr>
          <a:xfrm>
            <a:off x="228600" y="685800"/>
            <a:ext cx="8686800" cy="710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z="4400" dirty="0"/>
              <a:t xml:space="preserve">GitHub Submission Requirement </a:t>
            </a:r>
            <a:endParaRPr lang="en-US" sz="4400" b="0" u="none" strike="noStrike" dirty="0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42" name="Content Placeholder 11"/>
          <p:cNvSpPr txBox="1"/>
          <p:nvPr/>
        </p:nvSpPr>
        <p:spPr>
          <a:xfrm>
            <a:off x="457380" y="1531979"/>
            <a:ext cx="8229240" cy="317236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US" sz="2000" b="1" dirty="0"/>
              <a:t>GitHub: https://github.com/[YOUR-USERNAME]/bev-occupancy</a:t>
            </a:r>
          </a:p>
          <a:p>
            <a:r>
              <a:rPr lang="en-US" sz="1600" dirty="0"/>
              <a:t>Repository is publicly accessible and contains:</a:t>
            </a:r>
          </a:p>
          <a:p>
            <a:r>
              <a:rPr lang="en-US" sz="1600" b="1" dirty="0"/>
              <a:t>README.md:</a:t>
            </a:r>
            <a:r>
              <a:rPr lang="en-US" sz="1600" dirty="0"/>
              <a:t xml:space="preserve"> Overview, architecture, setup, training/eval commands, results</a:t>
            </a:r>
          </a:p>
          <a:p>
            <a:r>
              <a:rPr lang="en-US" sz="1600" b="1" dirty="0"/>
              <a:t>models/:</a:t>
            </a:r>
            <a:r>
              <a:rPr lang="en-US" sz="1600" dirty="0"/>
              <a:t xml:space="preserve"> backbone.py, bev_transform.py, temporal_fusion.py, bev_encoder.py, bevocc.py</a:t>
            </a:r>
          </a:p>
          <a:p>
            <a:r>
              <a:rPr lang="en-US" sz="1600" b="1" dirty="0"/>
              <a:t>utils/:</a:t>
            </a:r>
            <a:r>
              <a:rPr lang="en-US" sz="1600" dirty="0"/>
              <a:t xml:space="preserve"> losses.py (distance-weighted BCE), metrics.py (IoU, DWE, per-range)</a:t>
            </a:r>
          </a:p>
          <a:p>
            <a:r>
              <a:rPr lang="en-US" sz="1600" b="1" dirty="0"/>
              <a:t>Scripts:</a:t>
            </a:r>
            <a:r>
              <a:rPr lang="en-US" sz="1600" dirty="0"/>
              <a:t xml:space="preserve"> train.py, evaluate.py, inference.py, generate_gt.py, sanity_check.py</a:t>
            </a:r>
          </a:p>
          <a:p>
            <a:r>
              <a:rPr lang="en-US" sz="1600" b="1" dirty="0"/>
              <a:t>Colab Notebook:</a:t>
            </a:r>
            <a:r>
              <a:rPr lang="en-US" sz="1600" dirty="0"/>
              <a:t xml:space="preserve"> BEVOcc_Training_Colab.ipynb - end-to-end training in one click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3"/>
          <p:cNvSpPr txBox="1"/>
          <p:nvPr/>
        </p:nvSpPr>
        <p:spPr>
          <a:xfrm>
            <a:off x="228600" y="685800"/>
            <a:ext cx="8686800" cy="710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Declaration</a:t>
            </a:r>
          </a:p>
        </p:txBody>
      </p:sp>
      <p:sp>
        <p:nvSpPr>
          <p:cNvPr id="44" name="Content Placeholder 12"/>
          <p:cNvSpPr txBox="1"/>
          <p:nvPr/>
        </p:nvSpPr>
        <p:spPr>
          <a:xfrm>
            <a:off x="457560" y="1828800"/>
            <a:ext cx="8229240" cy="292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 confirm that the proposed work is original and developed by the team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All team members agree to the rules and evaluation process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466</Words>
  <Application>Microsoft Office PowerPoint</Application>
  <PresentationFormat>On-screen Show (16:9)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Figma to 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Figma to PPT</dc:creator>
  <dc:description/>
  <cp:lastModifiedBy>MANDAVA MOHAN SAI KOUSHIK - 245859114 - MITBLR</cp:lastModifiedBy>
  <cp:revision>20</cp:revision>
  <dcterms:created xsi:type="dcterms:W3CDTF">2025-12-11T11:33:43Z</dcterms:created>
  <dcterms:modified xsi:type="dcterms:W3CDTF">2026-03-18T06:30:37Z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1</vt:i4>
  </property>
</Properties>
</file>